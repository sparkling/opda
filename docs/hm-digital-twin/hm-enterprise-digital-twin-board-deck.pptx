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6d977062c34e54" /><Relationship Type="http://schemas.openxmlformats.org/officeDocument/2006/relationships/extended-properties" Target="/docProps/app.xml" Id="Rd943896fe9744842" /><Relationship Type="http://schemas.openxmlformats.org/officeDocument/2006/relationships/officeDocument" Target="/ppt/presentation.xml" Id="Ra39bb05a6c0243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f4026d4a074633"/>
  </p:sldMasterIdLst>
  <p:notesMasterIdLst>
    <p:notesMasterId xmlns:r="http://schemas.openxmlformats.org/officeDocument/2006/relationships" r:id="Rb3c1baa025c84f52"/>
  </p:notesMasterIdLst>
  <p:sldIdLst>
    <p:sldId xmlns:r="http://schemas.openxmlformats.org/officeDocument/2006/relationships" id="256" r:id="R893cdc82d3d345c6"/>
    <p:sldId xmlns:r="http://schemas.openxmlformats.org/officeDocument/2006/relationships" id="257" r:id="Rd48e9d8102644b5e"/>
    <p:sldId xmlns:r="http://schemas.openxmlformats.org/officeDocument/2006/relationships" id="258" r:id="Rb4fc2f4ae69f45af"/>
    <p:sldId xmlns:r="http://schemas.openxmlformats.org/officeDocument/2006/relationships" id="259" r:id="R04b56a60df994e96"/>
    <p:sldId xmlns:r="http://schemas.openxmlformats.org/officeDocument/2006/relationships" id="260" r:id="R362204136cd94e95"/>
    <p:sldId xmlns:r="http://schemas.openxmlformats.org/officeDocument/2006/relationships" id="261" r:id="R8008fffc1f76460a"/>
    <p:sldId xmlns:r="http://schemas.openxmlformats.org/officeDocument/2006/relationships" id="262" r:id="R9d5d87a873504d8a"/>
    <p:sldId xmlns:r="http://schemas.openxmlformats.org/officeDocument/2006/relationships" id="263" r:id="R100a581166644dcf"/>
    <p:sldId xmlns:r="http://schemas.openxmlformats.org/officeDocument/2006/relationships" id="264" r:id="Rbdd3e0d49c7c4acf"/>
    <p:sldId xmlns:r="http://schemas.openxmlformats.org/officeDocument/2006/relationships" id="265" r:id="R2cd6b96615a3496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4b1c2db3a44638" /><Relationship Type="http://schemas.openxmlformats.org/officeDocument/2006/relationships/slideMaster" Target="/ppt/slideMasters/slideMaster1.xml" Id="R43f4026d4a074633" /><Relationship Type="http://schemas.openxmlformats.org/officeDocument/2006/relationships/notesMaster" Target="/ppt/notesMasters/notesMaster1.xml" Id="Rb3c1baa025c84f52" /><Relationship Type="http://schemas.openxmlformats.org/officeDocument/2006/relationships/presProps" Target="/ppt/presProps.xml" Id="R424a83e53f2e4492" /><Relationship Type="http://schemas.openxmlformats.org/officeDocument/2006/relationships/viewProps" Target="/ppt/viewProps.xml" Id="R71b77f41b0d74944" /><Relationship Type="http://schemas.openxmlformats.org/officeDocument/2006/relationships/tableStyles" Target="/ppt/tableStyles.xml" Id="R2abbf2601eaa4dba" /><Relationship Type="http://schemas.openxmlformats.org/officeDocument/2006/relationships/slide" Target="/ppt/slides/slide1.xml" Id="R893cdc82d3d345c6" /><Relationship Type="http://schemas.openxmlformats.org/officeDocument/2006/relationships/slide" Target="/ppt/slides/slide2.xml" Id="Rd48e9d8102644b5e" /><Relationship Type="http://schemas.openxmlformats.org/officeDocument/2006/relationships/slide" Target="/ppt/slides/slide3.xml" Id="Rb4fc2f4ae69f45af" /><Relationship Type="http://schemas.openxmlformats.org/officeDocument/2006/relationships/slide" Target="/ppt/slides/slide4.xml" Id="R04b56a60df994e96" /><Relationship Type="http://schemas.openxmlformats.org/officeDocument/2006/relationships/slide" Target="/ppt/slides/slide5.xml" Id="R362204136cd94e95" /><Relationship Type="http://schemas.openxmlformats.org/officeDocument/2006/relationships/slide" Target="/ppt/slides/slide6.xml" Id="R8008fffc1f76460a" /><Relationship Type="http://schemas.openxmlformats.org/officeDocument/2006/relationships/slide" Target="/ppt/slides/slide7.xml" Id="R9d5d87a873504d8a" /><Relationship Type="http://schemas.openxmlformats.org/officeDocument/2006/relationships/slide" Target="/ppt/slides/slide8.xml" Id="R100a581166644dcf" /><Relationship Type="http://schemas.openxmlformats.org/officeDocument/2006/relationships/slide" Target="/ppt/slides/slide9.xml" Id="Rbdd3e0d49c7c4acf" /><Relationship Type="http://schemas.openxmlformats.org/officeDocument/2006/relationships/slide" Target="/ppt/slides/slide10.xml" Id="R2cd6b96615a349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1aa5ec66b04a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7b934e88824a3e" /><Relationship Type="http://schemas.openxmlformats.org/officeDocument/2006/relationships/notesMaster" Target="/ppt/notesMasters/notesMaster1.xml" Id="Rbe3a91f5be8747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d345666dae4f45" /><Relationship Type="http://schemas.openxmlformats.org/officeDocument/2006/relationships/notesMaster" Target="/ppt/notesMasters/notesMaster1.xml" Id="Rf59718b9fb034c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b3450efb60432b" /><Relationship Type="http://schemas.openxmlformats.org/officeDocument/2006/relationships/notesMaster" Target="/ppt/notesMasters/notesMaster1.xml" Id="R83789494688040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3a2213c47746f8" /><Relationship Type="http://schemas.openxmlformats.org/officeDocument/2006/relationships/notesMaster" Target="/ppt/notesMasters/notesMaster1.xml" Id="R274034bfbf5f4c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b3ab5eb77f4940" /><Relationship Type="http://schemas.openxmlformats.org/officeDocument/2006/relationships/notesMaster" Target="/ppt/notesMasters/notesMaster1.xml" Id="Rd61fd8e6087e45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aa1410cd42466d" /><Relationship Type="http://schemas.openxmlformats.org/officeDocument/2006/relationships/notesMaster" Target="/ppt/notesMasters/notesMaster1.xml" Id="Rf5a73fa4293344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1ad46ec6d34065" /><Relationship Type="http://schemas.openxmlformats.org/officeDocument/2006/relationships/notesMaster" Target="/ppt/notesMasters/notesMaster1.xml" Id="Rb48ca5e1ec664d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3d79b5c38249c8" /><Relationship Type="http://schemas.openxmlformats.org/officeDocument/2006/relationships/notesMaster" Target="/ppt/notesMasters/notesMaster1.xml" Id="R76e243810926428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d067a26f7224778" /><Relationship Type="http://schemas.openxmlformats.org/officeDocument/2006/relationships/notesMaster" Target="/ppt/notesMasters/notesMaster1.xml" Id="R99c51feee004429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9b1c21f02de4cb9" /><Relationship Type="http://schemas.openxmlformats.org/officeDocument/2006/relationships/notesMaster" Target="/ppt/notesMasters/notesMaster1.xml" Id="R4f71c901cd8d45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75523f6a1041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81db6abaaf4ce5" /><Relationship Type="http://schemas.openxmlformats.org/officeDocument/2006/relationships/slideLayout" Target="/ppt/slideLayouts/slideLayout1.xml" Id="R0b072c8c6dd545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072c8c6dd545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1a52f78214043" /><Relationship Type="http://schemas.openxmlformats.org/officeDocument/2006/relationships/notesSlide" Target="/ppt/notesSlides/notesSlide1.xml" Id="R556551126c0846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37a17348da41e3" /><Relationship Type="http://schemas.openxmlformats.org/officeDocument/2006/relationships/notesSlide" Target="/ppt/notesSlides/notesSlide2.xml" Id="R8d1ae9b5b0a344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9c3d814e149cc" /><Relationship Type="http://schemas.openxmlformats.org/officeDocument/2006/relationships/notesSlide" Target="/ppt/notesSlides/notesSlide3.xml" Id="R404604c8f32b43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4fea9fcd264171" /><Relationship Type="http://schemas.openxmlformats.org/officeDocument/2006/relationships/notesSlide" Target="/ppt/notesSlides/notesSlide4.xml" Id="R3e8300f6022d40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d3619c3ec4dd5" /><Relationship Type="http://schemas.openxmlformats.org/officeDocument/2006/relationships/notesSlide" Target="/ppt/notesSlides/notesSlide5.xml" Id="Re892c2697aad45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f871b898174666" /><Relationship Type="http://schemas.openxmlformats.org/officeDocument/2006/relationships/notesSlide" Target="/ppt/notesSlides/notesSlide6.xml" Id="Rfa9923fa67a0468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89d25a32c4194" /><Relationship Type="http://schemas.openxmlformats.org/officeDocument/2006/relationships/notesSlide" Target="/ppt/notesSlides/notesSlide7.xml" Id="Red3ca3e30a0441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98c2a9c9747ee" /><Relationship Type="http://schemas.openxmlformats.org/officeDocument/2006/relationships/notesSlide" Target="/ppt/notesSlides/notesSlide8.xml" Id="R208b6a91c76349d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8f85683e5d4996" /><Relationship Type="http://schemas.openxmlformats.org/officeDocument/2006/relationships/notesSlide" Target="/ppt/notesSlides/notesSlide9.xml" Id="R9ac808e7d184487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2a998ad6f04bc1" /><Relationship Type="http://schemas.openxmlformats.org/officeDocument/2006/relationships/notesSlide" Target="/ppt/notesSlides/notesSlide10.xml" Id="Rd9c0ddafe10247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1-marker">
            <a:extLst xmlns:a="http://schemas.openxmlformats.org/drawingml/2006/main">
              <a:ext uri="{FF2B5EF4-FFF2-40B4-BE49-F238E27FC236}">
                <a16:creationId xmlns:a16="http://schemas.microsoft.com/office/drawing/2014/main" id="{CCCC8369-ADFF-4AE3-A2C5-3D9D2D5C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0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-label">
            <a:extLst xmlns:a="http://schemas.openxmlformats.org/drawingml/2006/main">
              <a:ext uri="{FF2B5EF4-FFF2-40B4-BE49-F238E27FC236}">
                <a16:creationId xmlns:a16="http://schemas.microsoft.com/office/drawing/2014/main" id="{860BB26D-9A98-45E4-9549-40633D1A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5F0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0E7"/>
                </a:solidFill>
                <a:latin typeface="Aptos"/>
                <a:ea typeface="Aptos"/>
                <a:cs typeface="Aptos"/>
              </a:rPr>
              <a:t>STRATEGIC 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7BD9FA-9B34-4A54-82DD-7CD60029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246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BFB8A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FB8A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CC4467-215F-44BD-8EA8-40857670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19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5F0E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5F0E7"/>
                </a:solidFill>
                <a:latin typeface="Aptos Display"/>
                <a:ea typeface="Aptos Display"/>
                <a:cs typeface="Aptos Display"/>
              </a:rPr>
              <a:t>H&amp;M needs an operating twin, not another dashboard.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912C84-AC46-4F09-97DF-4E06E14B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619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6D0C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6D0C5"/>
                </a:solidFill>
                <a:latin typeface="Aptos"/>
                <a:ea typeface="Aptos"/>
                <a:cs typeface="Aptos"/>
              </a:rPr>
              <a:t>A linked-data digital twin can become the world model for AI agents that sense, simulate, decide and execute across the enterprise.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A9AE22-40AA-41FB-966B-B9538791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876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0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3E60FE-6E3D-4CFE-9A44-A47686A2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95250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461AFA-770A-4E50-8341-D633A013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8572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5F0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0E7"/>
                </a:solidFill>
                <a:latin typeface="Aptos"/>
                <a:ea typeface="Aptos"/>
                <a:cs typeface="Aptos"/>
              </a:rPr>
              <a:t>SENSE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C640B2-B5ED-4436-9871-47143664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1049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D6D0C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6D0C5"/>
                </a:solidFill>
                <a:latin typeface="Aptos"/>
                <a:ea typeface="Aptos"/>
                <a:cs typeface="Aptos"/>
              </a:rPr>
              <a:t>Trend, demand, stock, supplier, logistics and market signals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7C2096-01CB-497E-9B7F-D7FEEBE3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276350"/>
            <a:ext cx="19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0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8F3596-286C-4A40-AF6F-01B7FA4F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66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A66D55-70B2-4A59-A4E8-4EEF1C56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4310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32D583-A8D1-4E96-8337-06420703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478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5F0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0E7"/>
                </a:solidFill>
                <a:latin typeface="Aptos"/>
                <a:ea typeface="Aptos"/>
                <a:cs typeface="Aptos"/>
              </a:rPr>
              <a:t>SIMULATE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69FE19-9CD4-444A-B4A5-52C29151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955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D6D0C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6D0C5"/>
                </a:solidFill>
                <a:latin typeface="Aptos"/>
                <a:ea typeface="Aptos"/>
                <a:cs typeface="Aptos"/>
              </a:rPr>
              <a:t>Options, constraints, P&amp;L, risk, service and carbon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09364D-7668-465A-8232-C57C209B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266950"/>
            <a:ext cx="19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0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547AA5-18E2-4D95-A741-96C8FAA1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57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2E4AA5-ED5D-4F72-B6DD-7D7B34DD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3370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91666D-5C99-45F3-8EA4-1A9F6B08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384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5F0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0E7"/>
                </a:solidFill>
                <a:latin typeface="Aptos"/>
                <a:ea typeface="Aptos"/>
                <a:cs typeface="Aptos"/>
              </a:rPr>
              <a:t>DECIDE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187992-030E-4A08-B5FE-47E47B4D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861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D6D0C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6D0C5"/>
                </a:solidFill>
                <a:latin typeface="Aptos"/>
                <a:ea typeface="Aptos"/>
                <a:cs typeface="Aptos"/>
              </a:rPr>
              <a:t>Ranked recommendations with policy and confidence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4A4CCA-8472-4EDA-8DB0-C29054A5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57550"/>
            <a:ext cx="19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0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0E9DFF-A94A-4C45-8AB1-57862746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48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EE9957-D770-4DEC-93D8-7D305EC4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2430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159EE0-3513-4531-A31F-7E6777A3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290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5F0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0E7"/>
                </a:solidFill>
                <a:latin typeface="Aptos"/>
                <a:ea typeface="Aptos"/>
                <a:cs typeface="Aptos"/>
              </a:rPr>
              <a:t>EXECUTE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FB8EDA-EF3A-4709-8D5C-86F91DD0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767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D6D0C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6D0C5"/>
                </a:solidFill>
                <a:latin typeface="Aptos"/>
                <a:ea typeface="Aptos"/>
                <a:cs typeface="Aptos"/>
              </a:rPr>
              <a:t>Approved actions through existing systems and APIs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9DE2EC-0BCD-4822-9C93-7BFBCBC1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248150"/>
            <a:ext cx="190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06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15EBFE-2C71-4D7B-935E-E9CA07FB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38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7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7E72DA-6C75-4693-95A8-C09A2264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1490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ED2D7A-DFDE-405F-B7FC-16DA9AEC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196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5F0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0E7"/>
                </a:solidFill>
                <a:latin typeface="Aptos"/>
                <a:ea typeface="Aptos"/>
                <a:cs typeface="Aptos"/>
              </a:rPr>
              <a:t>LEARN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823A53-FCD3-45F6-9419-244DFC34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0673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D6D0C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6D0C5"/>
                </a:solidFill>
                <a:latin typeface="Aptos"/>
                <a:ea typeface="Aptos"/>
                <a:cs typeface="Aptos"/>
              </a:rPr>
              <a:t>Outcome feedback into twin, models and agents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CDAFF4-F201-4BB1-9BC4-C26FA016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67350"/>
            <a:ext cx="590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DFDDCB-9E09-4450-BAE8-C6D282CB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00700"/>
            <a:ext cx="552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5F0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F0E7"/>
                </a:solidFill>
                <a:latin typeface="Aptos"/>
                <a:ea typeface="Aptos"/>
                <a:cs typeface="Aptos"/>
              </a:rPr>
              <a:t>Programme frame: Enterprise Digital Twin + Agentic Operating System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E9E86A-DBF6-4C37-A91F-0EED9A50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A8A19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8A195"/>
                </a:solidFill>
                <a:latin typeface="Aptos"/>
                <a:ea typeface="Aptos"/>
                <a:cs typeface="Aptos"/>
              </a:rPr>
              <a:t>Public-source research pack, June 2026. No H&amp;M internal data used beyond sponsor-provided assumptions.</a:t>
            </a:r>
          </a:p>
        </p:txBody>
      </p:sp>
    </p:spTree>
    <p:extLst>
      <p:ext uri="{BB962C8B-B14F-4D97-AF65-F5344CB8AC3E}">
        <p14:creationId xmlns:p14="http://schemas.microsoft.com/office/powerpoint/2010/main" val="4819861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91938697-F98D-40F6-92AD-034B6EC6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0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80E301BD-65E1-4FF6-B773-07314623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WHY THIS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AB55EA-7478-4DEA-A001-D3FA349F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246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62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26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D69BA3-9AA9-49EB-BE02-3561ECEF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The value sits between product, stock, supply and channels.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7961E6-A5CE-4D7E-8DF0-4CEB36C2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619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26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268"/>
                </a:solidFill>
                <a:latin typeface="Aptos"/>
                <a:ea typeface="Aptos"/>
                <a:cs typeface="Aptos"/>
              </a:rPr>
              <a:t>H&amp;M's public scale means small improvements in availability, markdown, inventory productivity and operating cost become material.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7E5FE8-792E-4F5A-A818-EB6AA8F6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666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F87BC7-3B3C-4A18-8076-520F5074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666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228.3bn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B234D1-F960-4413-9100-7E5D4F3E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1666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SEK net sales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3C78AE-A38A-4306-B052-382C4DCA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C62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268"/>
                </a:solidFill>
                <a:latin typeface="Aptos"/>
                <a:ea typeface="Aptos"/>
                <a:cs typeface="Aptos"/>
              </a:rPr>
              <a:t>Full-year 2025 baseline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FADC6D-0599-472A-944A-7F512457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57500"/>
            <a:ext cx="1571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6A96BC-E2FB-442D-A7F5-F61BA085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48000"/>
            <a:ext cx="1571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8.1%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52FB5F-0B15-4C29-910E-EB2DD858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86150"/>
            <a:ext cx="1571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operating margin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9AF51E-1EB8-47C6-B809-D89E41CF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1571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C62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268"/>
                </a:solidFill>
                <a:latin typeface="Aptos"/>
                <a:ea typeface="Aptos"/>
                <a:cs typeface="Aptos"/>
              </a:rPr>
              <a:t>SEK 18.4bn operating profit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66DCAB-795B-4D38-97B4-294BBA50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57500"/>
            <a:ext cx="1666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9DAD1C-C263-4435-A89C-2BD9EE64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48000"/>
            <a:ext cx="1666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34.6bn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8AF6BE-B970-401E-981F-4834BA46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86150"/>
            <a:ext cx="1666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SEK stock-in-trade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73F9D7-61CC-46B5-A3EB-EDA33F80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100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C62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268"/>
                </a:solidFill>
                <a:latin typeface="Aptos"/>
                <a:ea typeface="Aptos"/>
                <a:cs typeface="Aptos"/>
              </a:rPr>
              <a:t>Q1 2026, down 16% YoY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57B4AA-45DA-4DB1-B53D-F51A1022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575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0DD35F-78B6-4231-BE81-414F7A6C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480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4,050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1753A5-DAF1-45C0-8ADC-3C6724D5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861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stores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1C3DE4-F430-4192-A8C7-A14788FE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100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C62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268"/>
                </a:solidFill>
                <a:latin typeface="Aptos"/>
                <a:ea typeface="Aptos"/>
                <a:cs typeface="Aptos"/>
              </a:rPr>
              <a:t>At 28 Feb 2026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6359BD-508F-4D71-961E-27E95E7E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8575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E0F40B-27E3-48EF-BA39-79E6DB85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0480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&gt;30%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855992-0F1C-46AA-B616-3F7EA5FB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4861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online share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BA5057-F45F-4D22-BFF1-397B6675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8100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C62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268"/>
                </a:solidFill>
                <a:latin typeface="Aptos"/>
                <a:ea typeface="Aptos"/>
                <a:cs typeface="Aptos"/>
              </a:rPr>
              <a:t>Q1 2026 sales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45C937-99E9-4E48-8D47-A12F02A5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57500"/>
            <a:ext cx="1666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761093-6F63-419F-AF64-9557BB38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48000"/>
            <a:ext cx="1666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969+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C40EE5-BA2E-4DE7-915A-04B47DE0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486150"/>
            <a:ext cx="1666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tier 1 factories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94B9DE-B3D9-43DA-81DE-E4C74681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8100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C62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268"/>
                </a:solidFill>
                <a:latin typeface="Aptos"/>
                <a:ea typeface="Aptos"/>
                <a:cs typeface="Aptos"/>
              </a:rPr>
              <a:t>554+ commercial suppliers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1E7E0D-E460-4FA8-9047-54D38615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429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1D06CE-CF94-4621-8D56-B75443CC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000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00020"/>
                </a:solidFill>
                <a:latin typeface="Aptos"/>
                <a:ea typeface="Aptos"/>
                <a:cs typeface="Aptos"/>
              </a:rPr>
              <a:t>Board implication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E0A083-F1D0-4666-8653-9F3BF4A6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14900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A 50 bps gross-margin improvement on 2025 sales is about SEK 1.1bn. A 5% inventory release on Q1 2026 stock-in-trade is about SEK 1.7bn cash. The twin should be funded as a growth, margin and cash programme.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1E91CE-4AD0-4502-B46E-D3EF4106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E746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E746F"/>
                </a:solidFill>
                <a:latin typeface="Aptos"/>
                <a:ea typeface="Aptos"/>
                <a:cs typeface="Aptos"/>
              </a:rPr>
              <a:t>Sources: H&amp;M Group Annual and Sustainability Report 2025; H&amp;M Group Q1 2026; H&amp;M supply chain transparency.</a:t>
            </a:r>
          </a:p>
        </p:txBody>
      </p:sp>
    </p:spTree>
    <p:extLst>
      <p:ext uri="{BB962C8B-B14F-4D97-AF65-F5344CB8AC3E}">
        <p14:creationId xmlns:p14="http://schemas.microsoft.com/office/powerpoint/2010/main" val="12708272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56B5902F-5C0B-4B9D-AAFA-9C0474E5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0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3C6F928A-C81C-4DFF-B598-FA7C3C5B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MARKET DIRECTION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9B4C89-ADC8-467B-A5F9-6DCB2241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246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62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26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93D00D-1E46-4488-ABB4-41A93D9A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Retail is moving from reporting to adaptive operations.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829D0A-F88E-447C-9B67-69A1D23B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619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26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268"/>
                </a:solidFill>
                <a:latin typeface="Aptos"/>
                <a:ea typeface="Aptos"/>
                <a:cs typeface="Aptos"/>
              </a:rPr>
              <a:t>Fashion examples are still early, so the strongest evidence comes from retail, logistics, supply chain and ontology-led operating models.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F5C32C-BFF4-47FD-9E5A-597BBA9C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C626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268"/>
                </a:solidFill>
                <a:latin typeface="Aptos"/>
                <a:ea typeface="Aptos"/>
                <a:cs typeface="Aptos"/>
              </a:rPr>
              <a:t>Signal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4DB3CD-2D3E-42F2-9EFD-000DE0D6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33650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C626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268"/>
                </a:solidFill>
                <a:latin typeface="Aptos"/>
                <a:ea typeface="Aptos"/>
                <a:cs typeface="Aptos"/>
              </a:rPr>
              <a:t>Public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9F2739-D21A-46FA-8C74-A8D26666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3365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C626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268"/>
                </a:solidFill>
                <a:latin typeface="Aptos"/>
                <a:ea typeface="Aptos"/>
                <a:cs typeface="Aptos"/>
              </a:rPr>
              <a:t>What transfers to H&amp;M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1350F0-3939-4792-A285-23B21DFA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019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9A5892-5A4E-4256-9FF9-95DF8DD4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F65882-7F60-4376-B137-AE7C8DC8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99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H&amp;M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3B1BC0-53F6-4A42-93FE-4F7FBD56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71800"/>
            <a:ext cx="5486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Shorter decision paths, trend capture, supply chain improvements, AI use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0CF60C-D2F4-42EB-BB6D-57568059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7180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Strategic permission already exists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9609C4-6E7D-4222-B8A6-DFFCA8E0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67100"/>
            <a:ext cx="1019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196AFD-C043-4488-BAB7-505086DC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671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662187-3076-48FE-BBD0-EB4C0DDB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Inditex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1618F4-0BBB-439D-8033-7A928DEB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581400"/>
            <a:ext cx="5486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Store technology ecosystem, AI Try-On, integrated store/online experience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70A8F8-0622-4ADD-A792-FBBF4740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8140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Speed is an operating model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AC3EB8-E70D-4A34-B9FD-2B9B261E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1019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4D7F2F-8A80-4C61-BB37-9F865C5B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69B5B0-63F8-4FCC-90CB-FEB2C94C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Walmart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988BA8-39CC-4625-9DD0-51811795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191000"/>
            <a:ext cx="5486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Self-healing inventory, real-time AI, agentic AI, unified tech stack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A7C9B5-3871-4ADC-AB86-40440CD4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9100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Agents are entering core retail operations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CB58EE-785A-4D25-9C15-D077C69E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1019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967C5A-EB76-4ADC-B31A-A1DECA13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BFB0CF-29CA-4C0F-8534-51ABEDC8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387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Lowe's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59AC00-0C9A-49EF-B3D8-F05FB807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800600"/>
            <a:ext cx="5486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Store digital twin with spatial, product location and order data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DE5C77-3F53-4003-B4B0-AA9C2864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80060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Twins work when tied to operational tasks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750CDB-A7F7-43D3-A431-954B331D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95900"/>
            <a:ext cx="1019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B93094-754B-4D07-9020-A973757B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9590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5EEA6A-E34D-4205-A980-BFF3BAEF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483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Ontology models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8D9BC7-6890-4F5A-9388-E84CB38A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410200"/>
            <a:ext cx="5486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Palantir Ontology comparator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2D16C0-0A71-4444-B598-232EF637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41020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Shared semantics; governed action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6B2B7F-6D2E-40D2-95BF-C0A9F03C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E746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E746F"/>
                </a:solidFill>
                <a:latin typeface="Aptos"/>
                <a:ea typeface="Aptos"/>
                <a:cs typeface="Aptos"/>
              </a:rPr>
              <a:t>Sources: H&amp;M FY2025/Q1 2026; Inditex AR2025; Walmart AI and supply chain posts; Lowe's digital twin; Palantir Ontology.</a:t>
            </a:r>
          </a:p>
        </p:txBody>
      </p:sp>
    </p:spTree>
    <p:extLst>
      <p:ext uri="{BB962C8B-B14F-4D97-AF65-F5344CB8AC3E}">
        <p14:creationId xmlns:p14="http://schemas.microsoft.com/office/powerpoint/2010/main" val="1067836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96EFA7F9-173B-4FE3-BB9D-F892062A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0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1BA290AA-9B3E-44AF-9522-77F7ADC3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TARGET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4830F-97D9-4829-9F6D-12F7B709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246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62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26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49B48F-254A-43BF-828B-913AF239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The H&amp;M twin is a linked-data model of the enterprise.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0BA6AA-5573-4068-AD37-C260D8C3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619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26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268"/>
                </a:solidFill>
                <a:latin typeface="Aptos"/>
                <a:ea typeface="Aptos"/>
                <a:cs typeface="Aptos"/>
              </a:rPr>
              <a:t>Products, demand, stock, suppliers, factories, logistics, stores, ecommerce, lifecycle and decisions become connected operational entities.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99B4F7-0FF6-4238-8FF2-D9010FD7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90875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8E8349-3DA5-47AE-971B-35E5915B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571875"/>
            <a:ext cx="838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5F0E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5F0E7"/>
                </a:solidFill>
                <a:latin typeface="Aptos Display"/>
                <a:ea typeface="Aptos Display"/>
                <a:cs typeface="Aptos Display"/>
              </a:rPr>
              <a:t>H&amp;M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F5F0E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5F0E7"/>
                </a:solidFill>
                <a:latin typeface="Aptos Display"/>
                <a:ea typeface="Aptos Display"/>
                <a:cs typeface="Aptos Display"/>
              </a:rPr>
              <a:t>Enterprise Twin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054256-3418-494E-9A3C-55D62235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647620">
            <a:off x="3703408" y="3452813"/>
            <a:ext cx="2461084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8D0C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6102A5-7315-4371-AAF3-FCB41881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860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0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93F991-F015-4698-9A38-CA877D26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05125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Product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SKU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60E748-0021-42F0-A15A-BBECDB73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400529">
            <a:off x="5645643" y="3252788"/>
            <a:ext cx="1262664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8D0C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AE1B9F-31FC-400F-A9EB-2C91AE6B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860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7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6BE69E-8115-4F83-A3B4-0EB074D3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05075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Demand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signals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35A363-17E6-4EAC-B0CD-90E4DB6A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97903">
            <a:off x="6042831" y="3452813"/>
            <a:ext cx="3135288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8D0C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EFC359-030D-4D3C-ABC1-37525897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404190-90F5-43BE-B7FE-DC4EA920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05125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Stores +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ecom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3FA838-94C2-4B25-836A-1626F907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63741">
            <a:off x="5999148" y="4424363"/>
            <a:ext cx="3413155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8D0C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3FE5DF-EB14-48BA-AC3B-B1DEE4E3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291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C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8CF256-6D4F-4215-B5B0-65B91D6F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848225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Inventory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42E57E-8BA8-4478-AF21-68492FBA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688595">
            <a:off x="5396170" y="4719638"/>
            <a:ext cx="176161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8D0C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53511D-A760-4243-9D4B-E154C9E2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6187EC-2C93-4B4E-A2B6-A67ED04C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438775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ledger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417B90-A7B2-4D11-90CA-05B9A9BC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334351">
            <a:off x="3477775" y="4424363"/>
            <a:ext cx="27409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8D0C2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01149E-F76A-47CA-93A7-E604FC5A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291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4BBA51-24E2-489F-95B9-A4EFE67E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848225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Supplier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factory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A4BF9C-36C1-45E1-B788-DE3201D0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807774">
            <a:off x="4390160" y="4976813"/>
            <a:ext cx="244013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8D0C2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C2BE4E-825A-4671-ADDA-79DB8147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7340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C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05F037-D5A9-4775-ADDF-E873D386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953125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Logistics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routes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B253F7-684B-4A38-91DD-BE21E030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116389">
            <a:off x="5550863" y="4976813"/>
            <a:ext cx="2842873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8D0C2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AF6786-3B75-4B47-88F5-AA2DCD82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7340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7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14F753-3540-4135-8030-4CADE45E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953125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Lifecycle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returns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A407EC-108F-4772-899B-678DB580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38700"/>
            <a:ext cx="2266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4E2440-56D7-499C-9199-E2C4FC14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673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000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00020"/>
                </a:solidFill>
                <a:latin typeface="Aptos"/>
                <a:ea typeface="Aptos"/>
                <a:cs typeface="Aptos"/>
              </a:rPr>
              <a:t>Why linked data?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F3369B-D835-4FA0-B9F2-F63563C0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14950"/>
            <a:ext cx="1847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The hard questions are dependency questions: what product, stock, supplier, shipment, store and action are connected?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1E5158-9563-4931-8FE9-486598CB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E746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E746F"/>
                </a:solidFill>
                <a:latin typeface="Aptos"/>
                <a:ea typeface="Aptos"/>
                <a:cs typeface="Aptos"/>
              </a:rPr>
              <a:t>Sources: H&amp;M supply chain transparency; Palantir Ontology as operating-model reference.</a:t>
            </a:r>
          </a:p>
        </p:txBody>
      </p:sp>
    </p:spTree>
    <p:extLst>
      <p:ext uri="{BB962C8B-B14F-4D97-AF65-F5344CB8AC3E}">
        <p14:creationId xmlns:p14="http://schemas.microsoft.com/office/powerpoint/2010/main" val="15359969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C02C74D2-07F3-4821-B602-ED11F231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0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76C631ED-38AA-4A51-999B-27E30D52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AGENTIC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3BE993-3787-421A-91A2-80DCCC1E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246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62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26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32CB2C-3C1B-4DE6-8091-93889D1D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Agents turn the twin from insight into action.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145CA2-4EF3-4271-94FE-54A98683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619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26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268"/>
                </a:solidFill>
                <a:latin typeface="Aptos"/>
                <a:ea typeface="Aptos"/>
                <a:cs typeface="Aptos"/>
              </a:rPr>
              <a:t>The point is not chatbot productivity. The point is role-specific decision workers that can query the twin, run simulations, prepare actions and learn.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9E29C8-03C2-4FDC-BD1C-3D8CBEDD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16954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932AF7-59B8-4372-9E65-05CFF6D1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B7DCF0-26E0-42CC-A34F-91579B4E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000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00020"/>
                </a:solidFill>
                <a:latin typeface="Aptos"/>
                <a:ea typeface="Aptos"/>
                <a:cs typeface="Aptos"/>
              </a:rPr>
              <a:t>EVENT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9F0CE3-FDC5-4C9C-975D-CF7856BD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099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Stockout risk, trend spike, supplier delay, route issue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B6427-1F02-4035-B358-516362DB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00425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5C626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C626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36B2F4-B6D3-4A00-8E3A-FE8AD900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52750"/>
            <a:ext cx="16954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6E1C21-B775-41D0-B21C-F78A65CA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52750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B290B8-78B1-4DAB-9AD5-26C8E19E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432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5C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15C83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F816A5-B8E0-4CFB-8989-746E00B6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4099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Retrieve product, stock, supplier, logistics and policy 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E4B598-23E6-4FC7-81B3-F2828B61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400425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5C626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C626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9A980A-6DB0-4B08-B40F-0EA6D6E9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52750"/>
            <a:ext cx="16954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D78B62-6A09-41E5-8B8C-1C762EDF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52750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76A6ED-71FD-41FC-9D8D-2769058D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432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87E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E8B"/>
                </a:solidFill>
                <a:latin typeface="Aptos"/>
                <a:ea typeface="Aptos"/>
                <a:cs typeface="Aptos"/>
              </a:rPr>
              <a:t>SIMULATION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7B0DAA-0F2F-40C3-BB5E-B437AB0B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099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Compare transfer, replenish, reroute, markdown or wait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B78764-D626-49FF-88F8-0746D346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00425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5C626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C626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583B0C-E904-4B1E-A751-87FA7D79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52750"/>
            <a:ext cx="16954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DFF3BA-4899-41D8-A22F-7A01C2F7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52750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4A82A3-DD5B-46DF-828C-8FC9E23D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432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779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77900"/>
                </a:solidFill>
                <a:latin typeface="Aptos"/>
                <a:ea typeface="Aptos"/>
                <a:cs typeface="Aptos"/>
              </a:rPr>
              <a:t>RECOMMEND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243871-D27E-4063-8713-ECEF497E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099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Rank options with P&amp;L, confidence, risk and assumptions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A1DE71-DE6A-4332-905D-8556F067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00425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5C626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C626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40C149-A8AE-4551-9F75-8D240972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16954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B1A417-3B99-409C-B6D7-720A5ADE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9FB8B5-466E-4876-9501-91D9267F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432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22CD79-2B77-46EE-A04B-FD804AAB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099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Human approval or policy-bound write-back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88651A-21CC-42A9-A442-F86A4F5C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400425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5C626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C626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ADCEF6-97D1-40C9-8B6E-7977FE06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952750"/>
            <a:ext cx="16954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5CB4CF-01AE-4C4D-AA55-5E331177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952750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25DDEB-9EF5-4517-A516-76BAEAC1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1432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87E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E8B"/>
                </a:solidFill>
                <a:latin typeface="Aptos"/>
                <a:ea typeface="Aptos"/>
                <a:cs typeface="Aptos"/>
              </a:rPr>
              <a:t>LEARN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01B894-06D1-4E0C-8385-AEDED835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4099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Outcome updates twin, model evaluation and agent memory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1C3257-E8F4-4BE9-9B64-5C7E16CA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76775"/>
            <a:ext cx="9734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E1EA2F-9708-4655-88A2-74199B50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000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00020"/>
                </a:solidFill>
                <a:latin typeface="Aptos"/>
                <a:ea typeface="Aptos"/>
                <a:cs typeface="Aptos"/>
              </a:rPr>
              <a:t>Guardrails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845C1D-513B-4661-9FB3-0070ACE2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876800"/>
            <a:ext cx="7772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No material action without policy, source evidence, scenario impact, permission check, approval route, write-back record and outcome monitoring.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EC770B-7089-4753-A2C1-9B780993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E746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E746F"/>
                </a:solidFill>
                <a:latin typeface="Aptos"/>
                <a:ea typeface="Aptos"/>
                <a:cs typeface="Aptos"/>
              </a:rPr>
              <a:t>Sources: Walmart agentic AI strategy; Palantir Ontology operating-model reference; H&amp;M public ethical AI and risk-management disclosures.</a:t>
            </a:r>
          </a:p>
        </p:txBody>
      </p:sp>
    </p:spTree>
    <p:extLst>
      <p:ext uri="{BB962C8B-B14F-4D97-AF65-F5344CB8AC3E}">
        <p14:creationId xmlns:p14="http://schemas.microsoft.com/office/powerpoint/2010/main" val="8776388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99BAB1AB-844C-40D2-99F0-79FC1642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0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EBA0D48D-3A8E-4396-B680-3239E6AB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FIRST VALUE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7E7A14-D4CA-4306-8211-9F878D14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246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62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26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CE257E-5406-4D7D-A0CB-8D35D13A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Start where H&amp;M leaks value every day: in-season stock allocation.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7D411C-CDAE-4D12-B6D1-93F10614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619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26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268"/>
                </a:solidFill>
                <a:latin typeface="Aptos"/>
                <a:ea typeface="Aptos"/>
                <a:cs typeface="Aptos"/>
              </a:rPr>
              <a:t>A stock imbalance is never just stock. It is revenue, margin, customer promise, transfer cost, ecommerce availability and markdown risk.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1DA6F6-EE46-4D1F-A32A-219E2291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2333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607316-0554-4C8E-B078-E3E083BC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EC96FF-FDBD-46E9-8674-8F13E243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20288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000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00020"/>
                </a:solidFill>
                <a:latin typeface="Aptos"/>
                <a:ea typeface="Aptos"/>
                <a:cs typeface="Aptos"/>
              </a:rPr>
              <a:t>Signal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AA44E0-AF7F-4AA4-AC48-49855E96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2047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Sell-through spike in Market A; slow movement in Market B; ecommerce search rising.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E97D9B-0E5F-4AA6-B028-1F5CBFCD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57450"/>
            <a:ext cx="2333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2E3216-C4EC-4944-BD3E-7E07CFCE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574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06CD9E-534C-446A-9407-7B895848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90800"/>
            <a:ext cx="20288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5C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15C83"/>
                </a:solidFill>
                <a:latin typeface="Aptos"/>
                <a:ea typeface="Aptos"/>
                <a:cs typeface="Aptos"/>
              </a:rPr>
              <a:t>Twin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491A41-8EAD-4A42-BB8B-243E1312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2047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SKU, store, ecommerce, stock on hand, in transit, returns, forecast, transfer feasibility.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933A6D-C4F2-4E31-A8FA-8360F92F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76700"/>
            <a:ext cx="2333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828A4E-433D-47A2-8954-D108FA67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7670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2C2230-B1AA-4394-9BA6-1A62417A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210050"/>
            <a:ext cx="20288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87E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E8B"/>
                </a:solidFill>
                <a:latin typeface="Aptos"/>
                <a:ea typeface="Aptos"/>
                <a:cs typeface="Aptos"/>
              </a:rPr>
              <a:t>Simulated options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757F07-CD1B-48AC-B7B3-11031D1C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76750"/>
            <a:ext cx="2047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Transfer, ecommerce pool, reorder, hold, local promotion, markdown avoidance.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6AE1FF-4725-4E42-B30F-42A24C7B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38450"/>
            <a:ext cx="2333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F654F-2784-44E3-B9D1-F6A7E7AC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384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ED02AB-9D79-46A3-91AA-EECA2E23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71800"/>
            <a:ext cx="20288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779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77900"/>
                </a:solidFill>
                <a:latin typeface="Aptos"/>
                <a:ea typeface="Aptos"/>
                <a:cs typeface="Aptos"/>
              </a:rPr>
              <a:t>Agent package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759625-8DB2-4C8D-A8C5-2FE8D963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38500"/>
            <a:ext cx="2047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Recommended action, P&amp;L impact, confidence, assumptions, approval path.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307F5E-DDEE-4D43-9EFE-12E4B3B8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38450"/>
            <a:ext cx="2333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F2E626-51D3-48A7-8BD2-DB3E4300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38450"/>
            <a:ext cx="476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65A7AA-DECD-44D5-9BEA-DA1DE9EF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71800"/>
            <a:ext cx="20288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Execution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C6B6D9-CAF3-4367-83AE-416D21F7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0"/>
            <a:ext cx="2047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Approved write-back, task creation, monitoring and outcome comparison.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64881B-FE0A-4593-8DC7-6189822F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575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5C626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C626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B897C3-0FB0-4578-8CB1-1515C0EA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575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5C626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C626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BBB7E8-1596-44E1-9EED-88F9606A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575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5C626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C626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85817D-0673-43C7-903D-22884F78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816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First slice should be a production-grade vertical, not a demo: linked-data slice, real data feeds, recommendation workflow, approval gate and outcome ledger.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615312-312A-40D7-8C91-3EE02838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E746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E746F"/>
                </a:solidFill>
                <a:latin typeface="Aptos"/>
                <a:ea typeface="Aptos"/>
                <a:cs typeface="Aptos"/>
              </a:rPr>
              <a:t>Sources: H&amp;M Q1 2026 inventory and channel disclosures; H&amp;M public strategy comments on shorter decision paths and in-season purchasing.</a:t>
            </a:r>
          </a:p>
        </p:txBody>
      </p:sp>
    </p:spTree>
    <p:extLst>
      <p:ext uri="{BB962C8B-B14F-4D97-AF65-F5344CB8AC3E}">
        <p14:creationId xmlns:p14="http://schemas.microsoft.com/office/powerpoint/2010/main" val="8582391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FABC3537-D8F5-4251-AEAB-DBA1EA0F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0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A50A71B0-A9EF-47C3-9A9E-77EB0705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BUSINESS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90BEE8-E947-4095-AD3F-BD4E743A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246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62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26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542BEB-72AC-43A4-8F4F-0DA4E363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Small percentage improvements create a multi-billion-SEK prize.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38E8E0-11E7-4AD6-9B95-B5169EA3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619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26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268"/>
                </a:solidFill>
                <a:latin typeface="Aptos"/>
                <a:ea typeface="Aptos"/>
                <a:cs typeface="Aptos"/>
              </a:rPr>
              <a:t>This is an indicative scenario, not a forecast. The discovery phase should replace these assumptions with internal markdown, stockout, cost and inventory data.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76625E-E57F-4ABA-B9D5-2EAE23E5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42994"/>
            <a:ext cx="1123950" cy="9528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2C3863-1379-43E5-81D7-5AE1F296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9144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SEK 1.22bn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1B68E9-AAEC-46A6-9B18-37693BE2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48275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Revenue capture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BAD6C9-7C52-4E97-8748-BCF10481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C62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268"/>
                </a:solidFill>
                <a:latin typeface="Aptos"/>
                <a:ea typeface="Aptos"/>
                <a:cs typeface="Aptos"/>
              </a:rPr>
              <a:t>1% sales uplift at 53.4% gross margin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5E1A8B-56F0-453D-9C0F-99E5B4BC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205478"/>
            <a:ext cx="1123950" cy="890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250B8D-3109-4359-AE01-E03195C9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881628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SEK 1.14bn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3E7E41-4A99-49F1-8C07-9EC12A8C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5248275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Markdown / margin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894EE0-C832-4B95-AA31-D1DBE3BF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5495925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C62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268"/>
                </a:solidFill>
                <a:latin typeface="Aptos"/>
                <a:ea typeface="Aptos"/>
                <a:cs typeface="Aptos"/>
              </a:rPr>
              <a:t>50 bps of 2025 sales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6902BF-E8F6-4D24-8DDD-D2A7B13E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924300"/>
            <a:ext cx="112395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3E67FD-86BE-470E-A366-CC06E2CC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004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SEK 1.50bn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8F5B0D-9617-4E4B-8C67-FDC75BC8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248275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Operating cost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FB0D4C-7CAD-4D37-9730-83E0C2B1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495925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5C62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268"/>
                </a:solidFill>
                <a:latin typeface="Aptos"/>
                <a:ea typeface="Aptos"/>
                <a:cs typeface="Aptos"/>
              </a:rPr>
              <a:t>5% on assumed SEK 30bn cost pool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ADD8C5-55E4-42B6-BBE3-A66F2E1A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81350"/>
            <a:ext cx="2190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AA06A2-E914-4F7E-AF18-05BA5763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371850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6D0C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6D0C5"/>
                </a:solidFill>
                <a:latin typeface="Aptos"/>
                <a:ea typeface="Aptos"/>
                <a:cs typeface="Aptos"/>
              </a:rPr>
              <a:t>Base case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A42AD5-5D1F-402E-A51C-E19E69BC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385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F5F0E7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F5F0E7"/>
                </a:solidFill>
                <a:latin typeface="Aptos Display"/>
                <a:ea typeface="Aptos Display"/>
                <a:cs typeface="Aptos Display"/>
              </a:rPr>
              <a:t>SEK 3.9bn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CD9DD3-10CC-4506-8A79-C0092B27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05765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D6D0C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6D0C5"/>
                </a:solidFill>
                <a:latin typeface="Aptos"/>
                <a:ea typeface="Aptos"/>
                <a:cs typeface="Aptos"/>
              </a:rPr>
              <a:t>annual recurring profit contribution at mature scale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5423AA-C277-42EC-93B9-30CDA33D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76250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C1819A-BFDA-4DD5-93A2-9DD45407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876800"/>
            <a:ext cx="1733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Plus cash effect: 10% inventory improvement on Q1 2026 stock-in-trade would release about SEK 3.5bn.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5EA3DB-C70A-4BF5-A80F-F6CC6BA3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E746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E746F"/>
                </a:solidFill>
                <a:latin typeface="Aptos"/>
                <a:ea typeface="Aptos"/>
                <a:cs typeface="Aptos"/>
              </a:rPr>
              <a:t>Sources: H&amp;M FY2025 and Q1 2026. Scenario assumptions documented in business-case memo.</a:t>
            </a:r>
          </a:p>
        </p:txBody>
      </p:sp>
    </p:spTree>
    <p:extLst>
      <p:ext uri="{BB962C8B-B14F-4D97-AF65-F5344CB8AC3E}">
        <p14:creationId xmlns:p14="http://schemas.microsoft.com/office/powerpoint/2010/main" val="6532176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DA5DDF18-8A52-4AB2-9777-E22FCBEF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0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52BBF142-D2B3-4E69-9809-66E0B70B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OPERATING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13AEED-C713-4D2C-B2EE-9891727F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246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62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26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FE21FA-6C81-4C27-A268-CB01F11B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This is a new operating model, not a platform install.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F2C394-73EB-44B2-B426-2E5A751C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619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26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268"/>
                </a:solidFill>
                <a:latin typeface="Aptos"/>
                <a:ea typeface="Aptos"/>
                <a:cs typeface="Aptos"/>
              </a:rPr>
              <a:t>The twin only works if semantics, agents, decision rights and value squads are designed together.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1DA9A2-168F-4C46-A653-6CE4DD22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9715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2E11DD-9864-4E00-9CB5-925CBE09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90850"/>
            <a:ext cx="2476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4EA3F7-6EB3-4458-B388-AC5E76D5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90850"/>
            <a:ext cx="4762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4E4DB2-3FB4-4158-8A79-BC048080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24200"/>
            <a:ext cx="2171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0002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00020"/>
                </a:solidFill>
                <a:latin typeface="Aptos"/>
                <a:ea typeface="Aptos"/>
                <a:cs typeface="Aptos"/>
              </a:rPr>
              <a:t>Twin product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571197-A805-4565-A08C-8BE8F5D3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90900"/>
            <a:ext cx="219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Owns H&amp;M's semantic model, entity relationships, APIs, decision ledger and platform roadmap.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F1D54B-D578-4F57-9EB5-69FAAA8A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90850"/>
            <a:ext cx="2476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800487-A27E-411C-A519-3B234D4C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90850"/>
            <a:ext cx="4762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DD14B6-C468-4602-AD9C-04FA06F8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24200"/>
            <a:ext cx="2171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87E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E8B"/>
                </a:solidFill>
                <a:latin typeface="Aptos"/>
                <a:ea typeface="Aptos"/>
                <a:cs typeface="Aptos"/>
              </a:rPr>
              <a:t>Agent platform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4995E8-E078-4057-A387-46C56E4F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90900"/>
            <a:ext cx="219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Owns runtime, tools, permissioning, evaluation, observability and action safety.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75EF54-0E93-4A3D-9C6B-D3AF2F07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90850"/>
            <a:ext cx="2476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8F70A3-F40E-4BAD-A2B9-504FF7AE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90850"/>
            <a:ext cx="4762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BFEB30-CEA7-4D71-88A8-FF7D586C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24200"/>
            <a:ext cx="2171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5C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15C83"/>
                </a:solidFill>
                <a:latin typeface="Aptos"/>
                <a:ea typeface="Aptos"/>
                <a:cs typeface="Aptos"/>
              </a:rPr>
              <a:t>Value squads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18E139-330D-4AF3-A387-A549A675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90900"/>
            <a:ext cx="219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Inventory, trend response, supplier, logistics and lifecycle squads with finance built in.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4C40AF-7B48-4167-919F-0824A1C6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3911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Governance becomes software: entity ownership, lineage, confidence, policy, approval, write-back and outcome tracking are part of the twin.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65AD25-75D7-4767-90E0-64726FC4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E746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E746F"/>
                </a:solidFill>
                <a:latin typeface="Aptos"/>
                <a:ea typeface="Aptos"/>
                <a:cs typeface="Aptos"/>
              </a:rPr>
              <a:t>Sources: H&amp;M public matrix organisation/risk disclosures; Palantir Ontology operating-model patterns.</a:t>
            </a:r>
          </a:p>
        </p:txBody>
      </p:sp>
    </p:spTree>
    <p:extLst>
      <p:ext uri="{BB962C8B-B14F-4D97-AF65-F5344CB8AC3E}">
        <p14:creationId xmlns:p14="http://schemas.microsoft.com/office/powerpoint/2010/main" val="3929185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878BCF31-B4A2-4651-8EAA-C8E055C2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0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13F8F786-97DD-42FA-9C6E-536127CE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555B0F-B75D-4BD6-A321-1BACB610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246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62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26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3C7132-F610-4C7D-AF8D-8C17D403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Build the semantic spine while use cases ship.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71924F-5458-47C5-AC1D-E656DE04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619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C626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268"/>
                </a:solidFill>
                <a:latin typeface="Aptos"/>
                <a:ea typeface="Aptos"/>
                <a:cs typeface="Aptos"/>
              </a:rPr>
              <a:t>Do not wait to fix every system. Use high-value decisions to force the data, entity ownership and action model into shape.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F27C12-E370-4216-BA95-3759C8F2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8513"/>
            <a:ext cx="923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EA461B-05E3-485A-9B4B-AF758F37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81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0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8A97A1-F75C-4F35-A695-D3AF8146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5755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BC2733-BBC4-4AF1-A385-D8C04E56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1381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5C62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C6268"/>
                </a:solidFill>
                <a:latin typeface="Aptos"/>
                <a:ea typeface="Aptos"/>
                <a:cs typeface="Aptos"/>
              </a:rPr>
              <a:t>0-12 weeks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C9B88F-F9BC-47F3-9107-89E8BA81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195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Prove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45161A-8442-4230-A87B-007206B82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381500"/>
            <a:ext cx="2038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Vertical slice: in-season allocation, linked-data slice, agent recommendations, value baseline.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A59EF2-73B5-4739-809F-4C6EAC83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181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2347DC-0844-4E42-9A33-9F366062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25755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316D7E-6156-4B17-8383-F768A898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752850"/>
            <a:ext cx="1381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5C62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C6268"/>
                </a:solidFill>
                <a:latin typeface="Aptos"/>
                <a:ea typeface="Aptos"/>
                <a:cs typeface="Aptos"/>
              </a:rPr>
              <a:t>3-9 months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FA6CA1-4143-4A3B-85A8-11374139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0195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Build spine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3214C5-BA9D-4602-BEA8-50F78806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4381500"/>
            <a:ext cx="2038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Product, SKU, store, ecommerce, inventory, supplier, factory, PO, shipment, decision and action model.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7EAD75-E487-43F9-A39B-A9261007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81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C8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22F877-7EC5-4908-95B8-6C1C386B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5755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4C4E99-37C9-4061-941F-AAE70992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752850"/>
            <a:ext cx="1381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5C62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C6268"/>
                </a:solidFill>
                <a:latin typeface="Aptos"/>
                <a:ea typeface="Aptos"/>
                <a:cs typeface="Aptos"/>
              </a:rPr>
              <a:t>9-18 months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746940-59D3-451E-94D6-551F0961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195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Scale decisions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1136EA-0779-4229-892E-B1A0F8BF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381500"/>
            <a:ext cx="2038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Trend response, replenishment, supplier risk, logistics, markdown and lifecycle agents.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3E6C9E-1AD2-43EE-9481-A2DF9DF2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81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7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E16389-6752-4975-9BCC-6F001F39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25755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30F5D7-D497-4266-8055-6C6654D7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752850"/>
            <a:ext cx="1381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5C62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C6268"/>
                </a:solidFill>
                <a:latin typeface="Aptos"/>
                <a:ea typeface="Aptos"/>
                <a:cs typeface="Aptos"/>
              </a:rPr>
              <a:t>18-36 months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B7C420-EDC6-4F27-9DB1-087B85C3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0195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Operate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39CB67-DB58-416B-AD01-1F34424D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381500"/>
            <a:ext cx="2038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Twin becomes common decision environment; agents execute controlled low-risk actions.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48C85B-BBAE-4979-B6E3-254D0D28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971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824FB8-C3F6-4072-86E2-6AC47D42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38800"/>
            <a:ext cx="914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5F0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F0E7"/>
                </a:solidFill>
                <a:latin typeface="Aptos"/>
                <a:ea typeface="Aptos"/>
                <a:cs typeface="Aptos"/>
              </a:rPr>
              <a:t>AI acceleration principle: agents help map data, resolve entities, generate tests, inspect lineage and draft scenarios while product squads ship value.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8BAA5C-1140-4543-9F49-AD824284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E746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E746F"/>
                </a:solidFill>
                <a:latin typeface="Aptos"/>
                <a:ea typeface="Aptos"/>
                <a:cs typeface="Aptos"/>
              </a:rPr>
              <a:t>Roadmap is directional and should be recalibrated after system inventory and first vertical-slice evidence.</a:t>
            </a:r>
          </a:p>
        </p:txBody>
      </p:sp>
    </p:spTree>
    <p:extLst>
      <p:ext uri="{BB962C8B-B14F-4D97-AF65-F5344CB8AC3E}">
        <p14:creationId xmlns:p14="http://schemas.microsoft.com/office/powerpoint/2010/main" val="16248598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8E58AF92-89D1-4C10-BCAF-42918080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0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068330F9-76C5-4A54-8245-BC63567D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5F0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0E7"/>
                </a:solidFill>
                <a:latin typeface="Aptos"/>
                <a:ea typeface="Aptos"/>
                <a:cs typeface="Aptos"/>
              </a:rPr>
              <a:t>BOARD 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6F61DC-CC1E-44CE-934C-BD5901F4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2460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BFB8A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FB8A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CE93FF-EE65-47B7-96ED-1C18B990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5F0E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5F0E7"/>
                </a:solidFill>
                <a:latin typeface="Aptos Display"/>
                <a:ea typeface="Aptos Display"/>
                <a:cs typeface="Aptos Display"/>
              </a:rPr>
              <a:t>Approve the first real vertical slice.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1BD245-85BF-4AEA-B644-FFC0990F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619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6D0C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6D0C5"/>
                </a:solidFill>
                <a:latin typeface="Aptos"/>
                <a:ea typeface="Aptos"/>
                <a:cs typeface="Aptos"/>
              </a:rPr>
              <a:t>Mobilise the Enterprise Digital Twin and Agentic Operating System as a strategic programme for speed, margin, cash and resilience.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D95574-5B9C-4418-99DA-03048EA3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2857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F4BDC0-1563-4238-8937-DA78551E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00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148AE4-27E8-460E-A93A-3CE4198E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400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B0002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B00020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9DBDA2-2839-41D0-9B7D-BEAB8185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290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5F0E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5F0E7"/>
                </a:solidFill>
                <a:latin typeface="Aptos Display"/>
                <a:ea typeface="Aptos Display"/>
                <a:cs typeface="Aptos Display"/>
              </a:rPr>
              <a:t>Build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61E433-5C52-4800-8412-542C380B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052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D6D0C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6D0C5"/>
                </a:solidFill>
                <a:latin typeface="Aptos"/>
                <a:ea typeface="Aptos"/>
                <a:cs typeface="Aptos"/>
              </a:rPr>
              <a:t>12-week production-grade prototype for in-season allocation or trend-to-assortment response.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A47AFF-7880-4716-B4FB-7739C8D7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43250"/>
            <a:ext cx="2857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D63BF5-750A-4930-BA4F-FAD2EDB2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432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FDB56F-49F9-426D-A7DF-91C01B54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71850"/>
            <a:ext cx="400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87E8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87E8B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38D553-2AA6-4714-A126-8BD37CCE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290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5F0E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5F0E7"/>
                </a:solidFill>
                <a:latin typeface="Aptos Display"/>
                <a:ea typeface="Aptos Display"/>
                <a:cs typeface="Aptos Display"/>
              </a:rPr>
              <a:t>Prove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492FB7-84AC-4447-830E-CB1F478B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052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D6D0C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6D0C5"/>
                </a:solidFill>
                <a:latin typeface="Aptos"/>
                <a:ea typeface="Aptos"/>
                <a:cs typeface="Aptos"/>
              </a:rPr>
              <a:t>Live linked-data slice, real data feeds, auditable agent recommendation workflow and value baseline.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B7A18A-AD09-4D40-A3CB-B0533364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43250"/>
            <a:ext cx="2857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2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62245C-6D2E-4EB7-B73E-56629FC2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432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D18EE8-A65F-4D7F-B6F0-451759A5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71850"/>
            <a:ext cx="400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7790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C77900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B08C44-5341-4327-8EE3-1990462C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290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5F0E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5F0E7"/>
                </a:solidFill>
                <a:latin typeface="Aptos Display"/>
                <a:ea typeface="Aptos Display"/>
                <a:cs typeface="Aptos Display"/>
              </a:rPr>
              <a:t>Decide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CA9780-0627-4CEA-A278-ABB541A4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052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D6D0C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6D0C5"/>
                </a:solidFill>
                <a:latin typeface="Aptos"/>
                <a:ea typeface="Aptos"/>
                <a:cs typeface="Aptos"/>
              </a:rPr>
              <a:t>Scale investment case, target architecture, operating model and first enterprise roadmap.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EA6D45-6D57-4F72-9286-DB387375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149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5F0E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0E7"/>
                </a:solidFill>
                <a:latin typeface="Aptos"/>
                <a:ea typeface="Aptos"/>
                <a:cs typeface="Aptos"/>
              </a:rPr>
              <a:t>Decision gate: fund scale only when the first slice proves decision latency, recommendation adoption, business impact and control.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48BC5A-0E69-4FFF-A6D9-FB126C51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A8A19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A8A195"/>
                </a:solidFill>
                <a:latin typeface="Aptos"/>
                <a:ea typeface="Aptos"/>
                <a:cs typeface="Aptos"/>
              </a:rPr>
              <a:t>Deliverables: executive briefing, strategy memo, market research, business case, architecture, detailed supporting paper and PPTX deck.</a:t>
            </a:r>
          </a:p>
        </p:txBody>
      </p:sp>
    </p:spTree>
    <p:extLst>
      <p:ext uri="{BB962C8B-B14F-4D97-AF65-F5344CB8AC3E}">
        <p14:creationId xmlns:p14="http://schemas.microsoft.com/office/powerpoint/2010/main" val="13028132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2026-06-08T10:41:44.5970000Z</dcterms:created>
  <dcterms:modified xsi:type="dcterms:W3CDTF">2026-06-08T10:41:44.5970000Z</dcterms:modified>
</coreProperties>
</file>